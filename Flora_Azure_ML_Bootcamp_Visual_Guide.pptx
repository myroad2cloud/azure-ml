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7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2011680" cy="310896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8D4"/>
                </a:solidFill>
              </a:rPr>
              <a:t>FLORA FOOD ML PROJECT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ML Bootcamp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77A"/>
                </a:solidFill>
              </a:rPr>
              <a:t>Secure R&amp;D Workbench, MLOps, private endpoints, web UI, and Terraform delivery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38160" y="960120"/>
            <a:ext cx="3108960" cy="4160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3556" tIns="3556" rIns="3556" bIns="355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job is not to become an ML scientist.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job is to deliver a secure enterprise ML platform that lets scientists work safely.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148840" cy="12344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R&amp;D users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54680" y="3063240"/>
            <a:ext cx="214884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~3 models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32120" y="3063240"/>
            <a:ext cx="214884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Private-only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4800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</a:rPr>
              <a:t>Built for fast project delivery, not academic theory.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Based on Flora SOW: secure Azure ML based R&amp;D Data Science Workbench.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SOW SCOPE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SOW actually asks you to deliver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3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Workbench</a:t>
            </a:r>
            <a:endParaRPr lang="en-US" sz="1330" dirty="0"/>
          </a:p>
          <a:p>
            <a:pPr marL="0" indent="0" algn="l">
              <a:buNone/>
            </a:pPr>
            <a:r>
              <a:rPr lang="en-US" sz="13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ML Workspace + Studio access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3566160" y="1463040"/>
            <a:ext cx="2331720" cy="1143000"/>
          </a:xfrm>
          <a:prstGeom prst="rect">
            <a:avLst/>
          </a:prstGeom>
          <a:solidFill>
            <a:srgbClr val="F0F9FF"/>
          </a:solidFill>
          <a:ln w="12700">
            <a:solidFill>
              <a:srgbClr val="D8E8F8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Instances for Python / R notebooks</a:t>
            </a:r>
            <a:endParaRPr lang="en-US" sz="1330" dirty="0"/>
          </a:p>
        </p:txBody>
      </p:sp>
      <p:sp>
        <p:nvSpPr>
          <p:cNvPr id="7" name="Text 5"/>
          <p:cNvSpPr/>
          <p:nvPr/>
        </p:nvSpPr>
        <p:spPr>
          <a:xfrm>
            <a:off x="6446520" y="146304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and GPU compute clusters with autoscale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9326880" y="1463040"/>
            <a:ext cx="2331720" cy="1143000"/>
          </a:xfrm>
          <a:prstGeom prst="rect">
            <a:avLst/>
          </a:prstGeom>
          <a:solidFill>
            <a:srgbClr val="F0F9FF"/>
          </a:solidFill>
          <a:ln w="12700">
            <a:solidFill>
              <a:srgbClr val="D8E8F8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experiments and reproducibility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Registry for lifecycle control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3566160" y="3108960"/>
            <a:ext cx="2331720" cy="1143000"/>
          </a:xfrm>
          <a:prstGeom prst="rect">
            <a:avLst/>
          </a:prstGeom>
          <a:solidFill>
            <a:srgbClr val="F0F9FF"/>
          </a:solidFill>
          <a:ln w="12700">
            <a:solidFill>
              <a:srgbClr val="D8E8F8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Online Endpoint and Batch Inference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6446520" y="310896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Container Apps web UI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9326880" y="3108960"/>
            <a:ext cx="2331720" cy="1143000"/>
          </a:xfrm>
          <a:prstGeom prst="rect">
            <a:avLst/>
          </a:prstGeom>
          <a:solidFill>
            <a:srgbClr val="F0F9FF"/>
          </a:solidFill>
          <a:ln w="12700">
            <a:solidFill>
              <a:srgbClr val="D8E8F8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monitoring, docs, KT, runbook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777240" y="4983480"/>
            <a:ext cx="104241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Acceptance means: deploy, validate, show pipeline execution, deploy one model, prove web access, prove monitoring.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SOW pages 2-4: in-scope platform components, activities, and acceptance criteria.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ANALOGY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Mental model: the secure R&amp;D ML factory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24128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19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Flora R&amp;D ML Factory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2267712"/>
            <a:ext cx="438912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</a:rPr>
              <a:t>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01368" y="22494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77A"/>
                </a:solidFill>
              </a:rPr>
              <a:t>Scientists desks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1368" y="24505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B1F3A"/>
                </a:solidFill>
              </a:rPr>
              <a:t>Compute Instances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397764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A"/>
                </a:solidFill>
              </a:rPr>
              <a:t>notebooks and exploration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34440" y="2926080"/>
            <a:ext cx="438912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</a:rPr>
              <a:t>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01368" y="29077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77A"/>
                </a:solidFill>
              </a:rPr>
              <a:t>Factory machines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01368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B1F3A"/>
                </a:solidFill>
              </a:rPr>
              <a:t>CPU Compute Clusters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3977640" y="3035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A"/>
                </a:solidFill>
              </a:rPr>
              <a:t>feature engineering and batch jobs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34440" y="3584448"/>
            <a:ext cx="438912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</a:rPr>
              <a:t>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01368" y="3566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77A"/>
                </a:solidFill>
              </a:rPr>
              <a:t>Special oven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01368" y="3767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B1F3A"/>
                </a:solidFill>
              </a:rPr>
              <a:t>GPU Compute Cluster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3977640" y="3694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A"/>
                </a:solidFill>
              </a:rPr>
              <a:t>heavy training, min nodes = 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34440" y="4242816"/>
            <a:ext cx="438912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</a:rPr>
              <a:t>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01368" y="42245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77A"/>
                </a:solidFill>
              </a:rPr>
              <a:t>Experiment diary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01368" y="44256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B1F3A"/>
                </a:solidFill>
              </a:rPr>
              <a:t>MLflow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3977640" y="4352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A"/>
                </a:solidFill>
              </a:rPr>
              <a:t>metrics, parameters, runs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80760" y="2267712"/>
            <a:ext cx="438912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</a:rPr>
              <a:t>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47688" y="22494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77A"/>
                </a:solidFill>
              </a:rPr>
              <a:t>Approved recipe shelf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47688" y="24505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B1F3A"/>
                </a:solidFill>
              </a:rPr>
              <a:t>Model Registry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882396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A"/>
                </a:solidFill>
              </a:rPr>
              <a:t>versioned models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2926080"/>
            <a:ext cx="438912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</a:rPr>
              <a:t>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47688" y="29077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77A"/>
                </a:solidFill>
              </a:rPr>
              <a:t>Serving counter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47688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B1F3A"/>
                </a:solidFill>
              </a:rPr>
              <a:t>Managed Online Endpoint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8823960" y="3035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A"/>
                </a:solidFill>
              </a:rPr>
              <a:t>real-time predictions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80760" y="3584448"/>
            <a:ext cx="438912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</a:rPr>
              <a:t>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47688" y="3566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77A"/>
                </a:solidFill>
              </a:rPr>
              <a:t>Tasting window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47688" y="3767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B1F3A"/>
                </a:solidFill>
              </a:rPr>
              <a:t>Container Apps Web UI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8823960" y="3694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A"/>
                </a:solidFill>
              </a:rPr>
              <a:t>controlled app access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80760" y="4242816"/>
            <a:ext cx="438912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</a:rPr>
              <a:t>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47688" y="42245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77A"/>
                </a:solidFill>
              </a:rPr>
              <a:t>Security gates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47688" y="44256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0B1F3A"/>
                </a:solidFill>
              </a:rPr>
              <a:t>Private Endpoints + DNS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8823960" y="4352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A"/>
                </a:solidFill>
              </a:rPr>
              <a:t>no public paths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Training analogy mapped to SOW platform components.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architecture: private-by-default ML workbench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645920" y="2514600"/>
            <a:ext cx="1508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480560" y="2514600"/>
            <a:ext cx="1508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09560" y="2304288"/>
            <a:ext cx="9601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909560" y="2816352"/>
            <a:ext cx="960120" cy="4297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29400" y="3200400"/>
            <a:ext cx="0" cy="1371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29400" y="457200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29400" y="457200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29400" y="457200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629400" y="4572000"/>
            <a:ext cx="2560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2057400"/>
            <a:ext cx="173736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Users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Studio / CLI / SDK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057400"/>
            <a:ext cx="210312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Network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VPN / ER / Bastion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874520"/>
            <a:ext cx="2514600" cy="12984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ML Workspace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Endpoint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1298448"/>
            <a:ext cx="251460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+ CPU + GPU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869680" y="2788920"/>
            <a:ext cx="2514600" cy="868680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+ Registry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2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PE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3154680" y="416052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2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Vault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PE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5623560" y="416052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2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PE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8321040" y="4160520"/>
            <a:ext cx="2331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2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+ Monitoring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Insights + LA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440680" y="3401568"/>
            <a:ext cx="2331720" cy="310896"/>
          </a:xfrm>
          <a:prstGeom prst="rect">
            <a:avLst/>
          </a:prstGeom>
          <a:solidFill>
            <a:srgbClr val="FFE4E6"/>
          </a:solidFill>
          <a:ln>
            <a:solidFill>
              <a:srgbClr val="FFE4E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</a:rPr>
              <a:t>Public access disabled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SOW requires secure R&amp;D IP handling with private access controls and Azure-native integrations.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ML Workspace internals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434840" y="2057400"/>
            <a:ext cx="3200400" cy="12344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ML Workspace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center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926080" y="1764792"/>
            <a:ext cx="150876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926080" y="3172968"/>
            <a:ext cx="1508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926080" y="4581144"/>
            <a:ext cx="1508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098280" y="1764792"/>
            <a:ext cx="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098280" y="3172968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098280" y="4581144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1353312"/>
            <a:ext cx="196596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761488"/>
            <a:ext cx="1965960" cy="8229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Assets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4169664"/>
            <a:ext cx="196596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98280" y="1353312"/>
            <a:ext cx="1965960" cy="82296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280" y="2761488"/>
            <a:ext cx="1965960" cy="822960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98280" y="4169664"/>
            <a:ext cx="196596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55321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</a:rPr>
              <a:t>Workspace is not “one service”. It is a control plane that coordinates compute, data, models, endpoints, and dependent Azure services.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Source: Flora Azure ML Workbench SOW, pages 2-6. Training summary built from current project context.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 choices: desk, factory machine, and special oven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32461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2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</a:rPr>
              <a:t>Desk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Compute Instance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542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A"/>
                </a:solidFill>
              </a:rPr>
              <a:t>Personal dev VM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3063240"/>
            <a:ext cx="2560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Notebook dev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Small testing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Debugging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Stop when idle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1508760"/>
            <a:ext cx="32461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2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</a:rPr>
              <a:t>Factory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CPU Compute Cluster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542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A"/>
                </a:solidFill>
              </a:rPr>
              <a:t>Shared auto-scale compute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3063240"/>
            <a:ext cx="2560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Feature engineering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Batch jobs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Training runs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min nodes = 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1508760"/>
            <a:ext cx="32461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F2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49640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</a:rPr>
              <a:t>Special oven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964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GPU Compute Cluster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49640" y="2542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A"/>
                </a:solidFill>
              </a:rPr>
              <a:t>Expensive heavy training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13648" y="3063240"/>
            <a:ext cx="2560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Intermittent training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Quota-controlled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Low max nodes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min nodes = 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40280" y="5623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C2626"/>
                </a:solidFill>
              </a:rPr>
              <a:t>FinOps rule: expensive compute should sleep by default.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SOW assumes small-scale workloads and intermittent GPU usage.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MLOPS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MLOps lifecycle: from experiment to usable app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828800" y="2788920"/>
            <a:ext cx="722376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730752" y="2788920"/>
            <a:ext cx="722376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632704" y="2788920"/>
            <a:ext cx="722376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534656" y="2788920"/>
            <a:ext cx="722376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436608" y="2788920"/>
            <a:ext cx="722376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2130552"/>
            <a:ext cx="1335024" cy="133502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02920" y="379476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Train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" y="41330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77A"/>
                </a:solidFill>
              </a:rPr>
              <a:t>Run notebook or job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87752" y="2130552"/>
            <a:ext cx="1335024" cy="13350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404872" y="379476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Track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23160" y="41330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77A"/>
                </a:solidFill>
              </a:rPr>
              <a:t>MLflow logs metrics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9704" y="2130552"/>
            <a:ext cx="1335024" cy="133502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306824" y="379476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Register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25112" y="41330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77A"/>
                </a:solidFill>
              </a:rPr>
              <a:t>Version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91656" y="2130552"/>
            <a:ext cx="1335024" cy="13350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208776" y="379476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Deploy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27064" y="41330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77A"/>
                </a:solidFill>
              </a:rPr>
              <a:t>Managed endpoint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93608" y="2130552"/>
            <a:ext cx="1335024" cy="133502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110728" y="379476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Use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9016" y="41330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77A"/>
                </a:solidFill>
              </a:rPr>
              <a:t>Web UI or batch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195560" y="2130552"/>
            <a:ext cx="1335024" cy="13350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0012680" y="379476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Monitor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30968" y="413308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77A"/>
                </a:solidFill>
              </a:rPr>
              <a:t>Logs and telemetry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06040" y="5102352"/>
            <a:ext cx="694944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anchor: one model must move through tracking, registry, deployment, and validation.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SOW pages 3-4: experiments tracked, models registered, pipeline deploys one model, endpoint available.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Private-only pattern: four gates must line up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606040" y="292608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166360" y="292608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26680" y="292608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1901952"/>
            <a:ext cx="1783080" cy="20574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Endpoint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Workspace, Storage, KV, ACR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66160" y="1901952"/>
            <a:ext cx="1783080" cy="2057400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DNS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privatelink zones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26480" y="1901952"/>
            <a:ext cx="1783080" cy="205740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+ RBAC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identity and groups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0" y="1901952"/>
            <a:ext cx="1783080" cy="2057400"/>
          </a:xfrm>
          <a:prstGeom prst="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 / Routing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customer path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508760" y="470916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workspace alone is not enough. Jobs also need private access to Storage, ACR, Key Vault, and logs.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Customer requires public access disabled for workspace, Storage, Key Vault, and ACR.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PATTERN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Terraform vs Azure ML assets: split the work cleanly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5166360" cy="43891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5166360" cy="438912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755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78D4"/>
                </a:solidFill>
              </a:rPr>
              <a:t>Terraform lane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583680" y="1755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B8A6"/>
                </a:solidFill>
              </a:rPr>
              <a:t>Azure ML CLI / SDK lane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420624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Deploy durable infrastructure: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Resource groups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Workspace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Storage / Key Vault / ACR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Private Endpoints + DNS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Managed identities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RBAC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Compute clusters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Monitoring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423160"/>
            <a:ext cx="425196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Manage change-heavy ML assets: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Data assets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Environments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Training jobs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ML pipelines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Model registration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Endpoint deployments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Traffic split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Validation runs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58978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DC2626"/>
                </a:solidFill>
              </a:rPr>
              <a:t>Do not force every ML artifact into Terraform. It will slow delivery and make model iteration painful.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SOW requires Terraform-style deployment approach plus Azure DevOps CI/CD validation.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+ APP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serving and web UI access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645920" y="2514600"/>
            <a:ext cx="1600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892040" y="2514600"/>
            <a:ext cx="1554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092440" y="2514600"/>
            <a:ext cx="1554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269480" y="2999232"/>
            <a:ext cx="0" cy="18013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1828800" cy="98755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User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2011680"/>
            <a:ext cx="2057400" cy="987552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Container Apps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Web UI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1920240"/>
            <a:ext cx="2194560" cy="11704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Online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72600" y="2011680"/>
            <a:ext cx="1920240" cy="98755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4800600"/>
            <a:ext cx="2103120" cy="822960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Inference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scoring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Use online endpoint for real-time scoring. Use batch inference when predictions can run offline against a file or table.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SOW includes Managed Online Endpoints, Batch Inference capability, and Azure Container Apps.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4-week delivery map from the SOW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880360" y="306324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2240280" cy="246888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</a:t>
            </a:r>
            <a:endParaRPr lang="en-US" sz="1450" dirty="0"/>
          </a:p>
          <a:p>
            <a:pPr marL="0" indent="0" algn="ctr">
              <a:buNone/>
            </a:pP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MS1 Kickoff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readiness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confirmation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715000" y="306324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11880" y="1828800"/>
            <a:ext cx="2240280" cy="2468880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1-2</a:t>
            </a:r>
            <a:endParaRPr lang="en-US" sz="1450" dirty="0"/>
          </a:p>
          <a:p>
            <a:pPr marL="0" indent="0" algn="ctr">
              <a:buNone/>
            </a:pP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MS2 Discovery + Design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workbench foundation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549640" y="306324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46520" y="1828800"/>
            <a:ext cx="2240280" cy="246888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2-3</a:t>
            </a:r>
            <a:endParaRPr lang="en-US" sz="1450" dirty="0"/>
          </a:p>
          <a:p>
            <a:pPr marL="0" indent="0" algn="ctr">
              <a:buNone/>
            </a:pP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MS3 MLOps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+ observability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281160" y="1828800"/>
            <a:ext cx="2240280" cy="246888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4</a:t>
            </a:r>
            <a:endParaRPr lang="en-US" sz="1450" dirty="0"/>
          </a:p>
          <a:p>
            <a:pPr marL="0" indent="0" algn="ctr">
              <a:buNone/>
            </a:pP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MS4 Closure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+ KT + handover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51560" y="5074920"/>
            <a:ext cx="100584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personal learning sequence should follow the milestones. Learn only what helps the next deliverable.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SOW pages 5-6: fee milestones and 4-week timeline.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SAFETY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boundary: protect the delivery 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257800" cy="4343400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5257800" cy="4343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</a:rPr>
              <a:t>Rackspace delivers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2940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</a:rPr>
              <a:t>Customer owns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70432" y="2423160"/>
            <a:ext cx="420624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Azure ML solution design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Deployment/configuration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Technical compatibility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DevOps pipelines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Validation in test environment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Documentation + runbook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Knowledge transfer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93408" y="2423160"/>
            <a:ext cx="438912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Security policy definition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RBAC model ownership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Network security operations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Data governance/compliance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Key and secret lifecycle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Ongoing monitoring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</a:rPr>
              <a:t>Post-delivery operations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592531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</a:rPr>
              <a:t>Client-safe wording: “We will align to customer-defined controls and validate technical compatibility.”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SOW pages 3 and 5: scope boundary for security, RBAC, network, data governance, and operations.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can break in a private Azure ML setup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1581912"/>
            <a:ext cx="438912" cy="43891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44752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Studio fails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44752" y="176479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A"/>
                </a:solidFill>
              </a:rPr>
              <a:t>Private DNS or storage access missing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438912" cy="43891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4752" y="2743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Jobs fail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44752" y="30906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A"/>
                </a:solidFill>
              </a:rPr>
              <a:t>ACR image pull blocked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822960" y="4233672"/>
            <a:ext cx="438912" cy="43891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44752" y="4069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Data fails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44752" y="441655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A"/>
                </a:solidFill>
              </a:rPr>
              <a:t>Storage firewall or identity issue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446520" y="1581912"/>
            <a:ext cx="438912" cy="43891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8312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Secrets fail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068312" y="176479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A"/>
                </a:solidFill>
              </a:rPr>
              <a:t>Key Vault RBAC mismatch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446520" y="2907792"/>
            <a:ext cx="438912" cy="43891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68312" y="2743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Endpoint fails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68312" y="30906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A"/>
                </a:solidFill>
              </a:rPr>
              <a:t>App cannot reach private endpoint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446520" y="4233672"/>
            <a:ext cx="438912" cy="43891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68312" y="4069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Cost leaks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068312" y="441655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A"/>
                </a:solidFill>
              </a:rPr>
              <a:t>GPU min nodes not zero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1920240" y="5486400"/>
            <a:ext cx="85039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beats assumptions. Test from the same network path the users and app will use.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Source: Flora Azure ML Workbench SOW, pages 2-6. Training summary built from current project context.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LESSONS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learning path from here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224028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Workspace internals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3566160" y="1417320"/>
            <a:ext cx="224028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Compute setup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6355080" y="1417320"/>
            <a:ext cx="224028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MLflow tracking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9144000" y="1417320"/>
            <a:ext cx="224028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Model Registry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224028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Online endpoints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24028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Batch inference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355080" y="2651760"/>
            <a:ext cx="224028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Container Apps UI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9144000" y="2651760"/>
            <a:ext cx="224028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Private networking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22402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Terraform modules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3566160" y="3886200"/>
            <a:ext cx="22402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Azure DevOps MLOps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355080" y="3886200"/>
            <a:ext cx="22402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Monitoring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9144000" y="3886200"/>
            <a:ext cx="22402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 Handover runbook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1051560" y="54406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78D4"/>
                </a:solidFill>
              </a:rPr>
              <a:t>Rule for this project: learn only enough to design, deploy, validate, explain, and hand over.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Next lesson: Azure ML Workspace internals, Terraform objects, and private-access failure modes.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247120" y="64830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f09a8f-df31-4464-b100-d09a5dbff5c8}" enabled="1" method="Standard" siteId="{570057f4-73ef-41c8-bcbb-08db2fc15c2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1194</Words>
  <Application>Microsoft Office PowerPoint</Application>
  <PresentationFormat>Widescreen</PresentationFormat>
  <Paragraphs>309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Rackspace / Flora Food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ML Bootcamp for Flora R&amp;D Workbench</dc:title>
  <dc:subject>Azure ML Bootcamp for Flora R&amp;D Data Science Workbench</dc:subject>
  <dc:creator>OpenAI</dc:creator>
  <cp:lastModifiedBy>Upendra Kumar</cp:lastModifiedBy>
  <cp:revision>2</cp:revision>
  <dcterms:created xsi:type="dcterms:W3CDTF">2026-07-07T06:24:24Z</dcterms:created>
  <dcterms:modified xsi:type="dcterms:W3CDTF">2026-07-07T06:28:45Z</dcterms:modified>
</cp:coreProperties>
</file>